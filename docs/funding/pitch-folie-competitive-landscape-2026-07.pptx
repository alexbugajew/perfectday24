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Kein Anbieter kombiniert lokale Tagesplanung, Events, Gruppenkoordination und Partner-Monetarisierung fuer Deutschland. Big Tech (Google Weekend Planner Agent, Ask Maps) validiert die Kategorie, ist aber US-only und haengt an US-Datenpartnern (Yelp, Eventbrite, AllTrails) mit duenner DE-Abdeckung. Direkteste Wettbewerber: Rausgegangen (nur Events), ADAC Trips (keine echte Personalisierung, kein Marktplatz), Outdooractive (nur Outdoor/DMO), Fever (Kapital, aber eigene Formate). GetYourGuide ist Dual-Player: Affiliate-Partner oder kuenftiger Angreifer. Der EU-Rollout der Google-Agenten (~2027) definiert das Zeitfenster fuer Retention, Partnerumsaetze und Datenexklusivitaet.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Wettbewerbslandschaft: </a:t>
            </a:r>
            <a:pPr indent="0" marL="0">
              <a:buNone/>
            </a:pPr>
            <a:r>
              <a:rPr lang="en-US" sz="2400" b="1" dirty="0">
                <a:solidFill>
                  <a:srgbClr val="F45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Position »lokaler Tagesplan« ist unbesetzt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234440"/>
            <a:ext cx="6858000" cy="4572000"/>
          </a:xfrm>
          <a:prstGeom prst="rect">
            <a:avLst/>
          </a:prstGeom>
          <a:solidFill>
            <a:srgbClr val="F7F9FB"/>
          </a:solidFill>
          <a:ln w="12700">
            <a:solidFill>
              <a:srgbClr val="C9D4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0" y="1234440"/>
            <a:ext cx="3429000" cy="2286000"/>
          </a:xfrm>
          <a:prstGeom prst="rect">
            <a:avLst/>
          </a:prstGeom>
          <a:solidFill>
            <a:srgbClr val="FDEFEB"/>
          </a:solidFill>
          <a:ln/>
        </p:spPr>
      </p:sp>
      <p:sp>
        <p:nvSpPr>
          <p:cNvPr id="5" name="Shape 3"/>
          <p:cNvSpPr/>
          <p:nvPr/>
        </p:nvSpPr>
        <p:spPr>
          <a:xfrm>
            <a:off x="4206240" y="1234440"/>
            <a:ext cx="0" cy="4572000"/>
          </a:xfrm>
          <a:prstGeom prst="line">
            <a:avLst/>
          </a:prstGeom>
          <a:noFill/>
          <a:ln w="12700">
            <a:solidFill>
              <a:srgbClr val="C9D4D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77240" y="3520440"/>
            <a:ext cx="6858000" cy="0"/>
          </a:xfrm>
          <a:prstGeom prst="line">
            <a:avLst/>
          </a:prstGeom>
          <a:noFill/>
          <a:ln w="12700">
            <a:solidFill>
              <a:srgbClr val="C9D4D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" y="9326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INTEGRIERTE PLANUNG &amp; TRANSAKTION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58613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NUR DISCOVERY / INSPIRATION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 rot="16200000">
            <a:off x="-64008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REISE / TOURISTISCH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 rot="5400000">
            <a:off x="6739128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/ ALLTAG 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73759" y="1993392"/>
            <a:ext cx="1064362" cy="310896"/>
          </a:xfrm>
          <a:prstGeom prst="roundRect">
            <a:avLst>
              <a:gd name="adj" fmla="val 35294"/>
            </a:avLst>
          </a:prstGeom>
          <a:solidFill>
            <a:srgbClr val="E9EE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GetYourGuide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4847" y="2816352"/>
            <a:ext cx="1393546" cy="310896"/>
          </a:xfrm>
          <a:prstGeom prst="roundRect">
            <a:avLst>
              <a:gd name="adj" fmla="val 35294"/>
            </a:avLst>
          </a:prstGeom>
          <a:solidFill>
            <a:srgbClr val="E9EE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· Expedia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22146" y="3136392"/>
            <a:ext cx="1327709" cy="310896"/>
          </a:xfrm>
          <a:prstGeom prst="roundRect">
            <a:avLst>
              <a:gd name="adj" fmla="val 35294"/>
            </a:avLst>
          </a:prstGeom>
          <a:solidFill>
            <a:srgbClr val="3E5C7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 · Mindtrip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75534" y="2542032"/>
            <a:ext cx="866851" cy="310896"/>
          </a:xfrm>
          <a:prstGeom prst="roundRect">
            <a:avLst>
              <a:gd name="adj" fmla="val 35294"/>
            </a:avLst>
          </a:prstGeom>
          <a:solidFill>
            <a:srgbClr val="3E5C7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Wanderlog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90749" y="1993392"/>
            <a:ext cx="1459382" cy="310896"/>
          </a:xfrm>
          <a:prstGeom prst="roundRect">
            <a:avLst>
              <a:gd name="adj" fmla="val 35294"/>
            </a:avLst>
          </a:prstGeom>
          <a:solidFill>
            <a:srgbClr val="E9EE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Experiences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3913632"/>
            <a:ext cx="1591056" cy="310896"/>
          </a:xfrm>
          <a:prstGeom prst="roundRect">
            <a:avLst>
              <a:gd name="adj" fmla="val 35294"/>
            </a:avLst>
          </a:prstGeom>
          <a:solidFill>
            <a:srgbClr val="E9EE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Tripadvisor · Viator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01952" y="4965192"/>
            <a:ext cx="1591056" cy="310896"/>
          </a:xfrm>
          <a:prstGeom prst="roundRect">
            <a:avLst>
              <a:gd name="adj" fmla="val 35294"/>
            </a:avLst>
          </a:prstGeom>
          <a:solidFill>
            <a:srgbClr val="3E5C7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· Perplexity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44875" y="3730752"/>
            <a:ext cx="1722730" cy="310896"/>
          </a:xfrm>
          <a:prstGeom prst="roundRect">
            <a:avLst>
              <a:gd name="adj" fmla="val 35294"/>
            </a:avLst>
          </a:prstGeom>
          <a:solidFill>
            <a:srgbClr val="E9EE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Komoot · Outdooractive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37660" y="4462272"/>
            <a:ext cx="1920240" cy="310896"/>
          </a:xfrm>
          <a:prstGeom prst="roundRect">
            <a:avLst>
              <a:gd name="adj" fmla="val 35294"/>
            </a:avLst>
          </a:prstGeom>
          <a:solidFill>
            <a:srgbClr val="3E5C7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Mode · Ask Maps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71616" y="3273552"/>
            <a:ext cx="932688" cy="310896"/>
          </a:xfrm>
          <a:prstGeom prst="roundRect">
            <a:avLst>
              <a:gd name="adj" fmla="val 35294"/>
            </a:avLst>
          </a:prstGeom>
          <a:solidFill>
            <a:srgbClr val="E9EE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ADAC Trips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17259" y="4187952"/>
            <a:ext cx="1064362" cy="310896"/>
          </a:xfrm>
          <a:prstGeom prst="roundRect">
            <a:avLst>
              <a:gd name="adj" fmla="val 35294"/>
            </a:avLst>
          </a:prstGeom>
          <a:solidFill>
            <a:srgbClr val="E9EE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Rausgegangen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76088" y="4873752"/>
            <a:ext cx="603504" cy="310896"/>
          </a:xfrm>
          <a:prstGeom prst="roundRect">
            <a:avLst>
              <a:gd name="adj" fmla="val 35294"/>
            </a:avLst>
          </a:prstGeom>
          <a:solidFill>
            <a:srgbClr val="E9EE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13502" y="5285232"/>
            <a:ext cx="1986077" cy="310896"/>
          </a:xfrm>
          <a:prstGeom prst="roundRect">
            <a:avLst>
              <a:gd name="adj" fmla="val 35294"/>
            </a:avLst>
          </a:prstGeom>
          <a:solidFill>
            <a:srgbClr val="E9EE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Vergnügen · Geheimtipp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19449" y="5422392"/>
            <a:ext cx="1459382" cy="310896"/>
          </a:xfrm>
          <a:prstGeom prst="roundRect">
            <a:avLst>
              <a:gd name="adj" fmla="val 35294"/>
            </a:avLst>
          </a:prstGeom>
          <a:solidFill>
            <a:srgbClr val="3E5C7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· Instagram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2240280"/>
            <a:ext cx="0" cy="2167128"/>
          </a:xfrm>
          <a:prstGeom prst="line">
            <a:avLst/>
          </a:prstGeom>
          <a:noFill/>
          <a:ln w="19050">
            <a:solidFill>
              <a:srgbClr val="6B7B87"/>
            </a:solidFill>
            <a:prstDash val="dash"/>
            <a:headEnd type="triangle"/>
          </a:ln>
        </p:spPr>
      </p:sp>
      <p:sp>
        <p:nvSpPr>
          <p:cNvPr id="26" name="Text 24"/>
          <p:cNvSpPr/>
          <p:nvPr/>
        </p:nvSpPr>
        <p:spPr>
          <a:xfrm>
            <a:off x="4160520" y="30175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EU-Rollout ~2027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57800" y="1399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5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UNBESETZTE POSITION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49240" y="1691640"/>
            <a:ext cx="1828800" cy="457200"/>
          </a:xfrm>
          <a:prstGeom prst="roundRect">
            <a:avLst>
              <a:gd name="adj" fmla="val 24000"/>
            </a:avLst>
          </a:prstGeom>
          <a:solidFill>
            <a:srgbClr val="F45D48"/>
          </a:solidFill>
          <a:ln/>
          <a:effectLst>
            <a:outerShdw sx="100000" sy="100000" kx="0" ky="0" algn="bl" rotWithShape="0" blurRad="76200" dist="25400" dir="5400000">
              <a:srgbClr val="9E3A2B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PerfectDay24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77240" y="6217920"/>
            <a:ext cx="164592" cy="164592"/>
          </a:xfrm>
          <a:prstGeom prst="rect">
            <a:avLst/>
          </a:prstGeom>
          <a:solidFill>
            <a:srgbClr val="F45D48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984" y="6163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PerfectDay24 — unbesetzte Kernposition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29000" y="6217920"/>
            <a:ext cx="164592" cy="164592"/>
          </a:xfrm>
          <a:prstGeom prst="rect">
            <a:avLst/>
          </a:prstGeom>
          <a:solidFill>
            <a:srgbClr val="3E5C70"/>
          </a:solidFill>
          <a:ln/>
        </p:spPr>
      </p:sp>
      <p:sp>
        <p:nvSpPr>
          <p:cNvPr id="32" name="Text 30"/>
          <p:cNvSpPr/>
          <p:nvPr/>
        </p:nvSpPr>
        <p:spPr>
          <a:xfrm>
            <a:off x="3666744" y="6163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KI-Angreifer (Big Tech &amp; Startups)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0" y="6217920"/>
            <a:ext cx="164592" cy="164592"/>
          </a:xfrm>
          <a:prstGeom prst="rect">
            <a:avLst/>
          </a:prstGeom>
          <a:solidFill>
            <a:srgbClr val="E9EEF2"/>
          </a:solidFill>
          <a:ln w="9525">
            <a:solidFill>
              <a:srgbClr val="C9D4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61630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Etablierte Anbieter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138160" y="932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PerfectDay24 gewinnt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38160" y="1389888"/>
            <a:ext cx="365760" cy="365760"/>
          </a:xfrm>
          <a:prstGeom prst="ellipse">
            <a:avLst/>
          </a:prstGeom>
          <a:solidFill>
            <a:srgbClr val="0E3A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41080" y="1371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Lokaldaten-Burggraben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41080" y="162763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473+ deutsche Städte, offizielle Eventquellen &amp; Vendor-Daten — genau das fehlt Google &amp; OpenAI in DE.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138160" y="2441448"/>
            <a:ext cx="365760" cy="365760"/>
          </a:xfrm>
          <a:prstGeom prst="ellipse">
            <a:avLst/>
          </a:prstGeom>
          <a:solidFill>
            <a:srgbClr val="0E3A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641080" y="24231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Prompt zum buchbaren Plan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641080" y="267919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Teilbarer Tagesplan mit Ticket, Tisch &amp; Route statt Linkliste — monetarisiert am Entscheidungspunkt.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138160" y="3493008"/>
            <a:ext cx="365760" cy="365760"/>
          </a:xfrm>
          <a:prstGeom prst="ellipse">
            <a:avLst/>
          </a:prstGeom>
          <a:solidFill>
            <a:srgbClr val="0E3A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641080" y="34747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Endpunkt für KI-Agenten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641080" y="373075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Anschluss an ChatGPT Apps, MCP &amp; Google UCP: Distribution durch die Angreifer statt Verdrängung.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138160" y="461772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DEFEB"/>
          </a:solidFill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Zeitfenster ~2027: </a:t>
            </a:r>
            <a:pPr algn="l" indent="0" marL="0">
              <a:buNone/>
            </a:pPr>
            <a:r>
              <a:rPr lang="en-US" sz="1100" dirty="0">
                <a:solidFill>
                  <a:srgbClr val="31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Googles Weekend-Planner-Agent ist noch US-only. Bis zum EU-Rollout müssen Retention, Partnerumsätze und Datenexklusivität stehen.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138160" y="6108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Konkurrenzanalyse PerfectDay24, Stand Juli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2026-07-30T08:28:20Z</dcterms:created>
  <dcterms:modified xsi:type="dcterms:W3CDTF">2026-07-30T08:28:20Z</dcterms:modified>
</cp:coreProperties>
</file>